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F35C89-EBB3-4509-81A4-0E33CB937676}">
  <a:tblStyle styleId="{0AF35C89-EBB3-4509-81A4-0E33CB9376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1138187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DEAS – </a:t>
            </a: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TIH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SUMMER INTERNSHIP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1790901"/>
            <a:ext cx="10058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Ranking Using AI/ML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363173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0E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0EE"/>
                </a:solidFill>
                <a:latin typeface="Calibri"/>
                <a:ea typeface="Calibri"/>
                <a:cs typeface="Calibri"/>
                <a:sym typeface="Calibri"/>
              </a:rPr>
              <a:t>A data-driven ESG ranking framework for Indian power sector companies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4713371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Submitted by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Abhiroop Dutta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518380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Guided by 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Dr. Piyali Sengupta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6126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FC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FAFCB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Why Rank Power Companies on Sustainability?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50876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Investors, regulators, and the public increasingly judge power companies on Environmental, Social, and Governance (ESG) performance — but commercial ratings are proprietary, costly, and opaque. This project builds a transparent, reproducible AI/ML framework to rank Indian power companies on sustainability.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2604235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97280" y="2604235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Identify Indicators  —  </a:t>
            </a:r>
            <a:r>
              <a:rPr b="0" i="0" lang="en-US" sz="16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Map material Environmental, Social, and Governance indicators for the power sector.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3317467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97280" y="3317467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Collect ESG Data  —  </a:t>
            </a:r>
            <a:r>
              <a:rPr b="0" i="0" lang="en-US" sz="16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Compile three years of disclosures for six major Indian power sector companies.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4030699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097280" y="4030699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Apply AI/ML  —  </a:t>
            </a:r>
            <a:r>
              <a:rPr b="0" i="0" lang="en-US" sz="16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Cluster, model, and weight sustainability performance using appropriate techniques.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4743931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097280" y="4743931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Benchmark Rankings  —  </a:t>
            </a:r>
            <a:r>
              <a:rPr b="0" i="0" lang="en-US" sz="16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Compare AI-derived output to conventional weighting and external ratings.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5457163"/>
            <a:ext cx="457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3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97280" y="5457163"/>
            <a:ext cx="10424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350"/>
              <a:buFont typeface="Calibri"/>
              <a:buNone/>
            </a:pPr>
            <a:r>
              <a:rPr b="1" i="0" lang="en-US" sz="16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Surface Leaders &amp; Laggards  —  </a:t>
            </a:r>
            <a:r>
              <a:rPr b="0" i="0" lang="en-US" sz="16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Deliver actionable, company-level recommendations.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Four-Phase Analytical Framework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69164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1. Data Preparation  — 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Clean, impute missing values, and normalize 13 ESG indicators.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2468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2. Feature Selection  — 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Correlation analysis and PCA to validate the E/S/G structure.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324612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3. AI/ML Modeling  — 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K-Means clustering and Random Forest regression applied to indicator data.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8640" y="40233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4. Ranking Framework  —  </a:t>
            </a:r>
            <a:r>
              <a:rPr b="0" i="0" lang="en-US" sz="18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Weighted Sustainability Index, benchmarked against external ratings.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5120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Sample: Adani Power · Tata Power · Power Grid Corp. of India · JSW Energy · NTPC Limited · NHPC Limited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54864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FY 2022-23 to FY 2024-25   |   18 company-year observations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Dataset &amp; Sustainability Indicators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54864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54864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38328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338328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Years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21792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21792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Company-Year Records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9052560" y="164592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3400"/>
              <a:buFont typeface="Calibri"/>
              <a:buNone/>
            </a:pPr>
            <a:r>
              <a:rPr b="1" i="0" lang="en-US" sz="3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052560" y="22860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ESG Indicators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474720" y="33832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GHG &amp; Energy Intensity, Water Intensity, Waste Intensity, Scope 3 Reporting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3474720" y="42062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Workforce Diversity, Training Hours, Worker LTIFR, CSR Expenditure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474720" y="50292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Board Diversity, Independent Directors, Governance &amp; Ethics Mechanisms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METHODOLOGICAL INTEGRITY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Two Bias Corrections That Mattered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548640" y="14630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1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During validation, two mechanical sources of bias were identified and corrected — both material to keeping the ranking fair and defensible.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48640" y="2286000"/>
            <a:ext cx="5349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Calibri"/>
              <a:buNone/>
            </a:pPr>
            <a:r>
              <a:rPr b="1" i="0" lang="en-US" sz="17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 Text Treated as “Zero”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548640" y="2971800"/>
            <a:ext cx="5349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Blank Ethics &amp; Compliance disclosures for some companies were initially scored as “no governance mechanisms” — penalizing a data gap, not a real weakness.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461772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Fix:  </a:t>
            </a: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blanks are now treated as missing data and imputed with the peer median, with a disclosure flag kept for transparency.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355080" y="2286000"/>
            <a:ext cx="5349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50"/>
              <a:buFont typeface="Calibri"/>
              <a:buNone/>
            </a:pPr>
            <a:r>
              <a:rPr b="1" i="0" lang="en-US" sz="17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Business Model Skewed Environmental Scores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355080" y="2971800"/>
            <a:ext cx="5349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Transmission (Power Grid) and hydro (NHPC) companies report near-zero emissions simply from not burning fuel — not necessarily superior effort.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355080" y="461772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50"/>
              <a:buFont typeface="Calibri"/>
              <a:buNone/>
            </a:pPr>
            <a:r>
              <a:rPr b="1" i="0" lang="en-US" sz="155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Fix:  </a:t>
            </a: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combustion-driven indicators are now normalized within business-model peer segments, matching how CRISIL/MSCI benchmark industry-relative.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FEATURE SELECTION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Correlation Analysis &amp; Principal Component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correlation_heatmap.png" id="103" name="Google Shape;1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63040"/>
            <a:ext cx="54864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report_assets/fig_pca_scree.png" id="104" name="Google Shape;10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600200"/>
            <a:ext cx="512064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8"/>
          <p:cNvSpPr/>
          <p:nvPr/>
        </p:nvSpPr>
        <p:spPr>
          <a:xfrm>
            <a:off x="6309360" y="50749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Key finding:  </a:t>
            </a:r>
            <a:r>
              <a:rPr b="0" i="0" lang="en-US" sz="13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GHG, Water, and Energy Intensity move together and dominate the first principal component (~57% of variance) — confirming that business-model (combustion vs. non-combustion) is the single largest axis of difference between these companies.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Two Complementary AI/ML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548640" y="192024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b="1" i="0" lang="en-US" sz="21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48640" y="2560320"/>
            <a:ext cx="5349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Groups companies into sustainability tiers without a pre-defined scoring formula.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548640" y="365760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Best k = 4 (silhouette ≈ 0.48)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6355080" y="192024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700"/>
              <a:buFont typeface="Calibri"/>
              <a:buNone/>
            </a:pPr>
            <a:r>
              <a:rPr b="1" i="0" lang="en-US" sz="21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6355080" y="2560320"/>
            <a:ext cx="5349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300"/>
              <a:buFont typeface="Calibri"/>
              <a:buNone/>
            </a:pPr>
            <a:r>
              <a:rPr b="0" i="0" lang="en-US" sz="17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Learns which indicators drive sustainability, producing AI-derived pillar weights.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6355080" y="365760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5-fold CV R² = 0.58 (± 0.45)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548640" y="493776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Calibri"/>
              <a:buNone/>
            </a:pPr>
            <a:r>
              <a:rPr b="0" i="1" lang="en-US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Both models are validated appropriately for a small-sample dataset: silhouette score for cluster-count selection, and 5-fold cross-validation for Random Forest, rather than a single train/test split.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RANKING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From Indicators to a Sustainability Index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48640" y="16002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SI = wₑ × Environmental + wₛ × Social + wᵍ × Governance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10"/>
          <p:cNvGraphicFramePr/>
          <p:nvPr/>
        </p:nvGraphicFramePr>
        <p:xfrm>
          <a:off x="54864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{0AF35C89-EBB3-4509-81A4-0E33CB937676}</a:tableStyleId>
              </a:tblPr>
              <a:tblGrid>
                <a:gridCol w="3108950"/>
                <a:gridCol w="2002525"/>
                <a:gridCol w="2002525"/>
                <a:gridCol w="2002525"/>
                <a:gridCol w="1993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Weighting Scheme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Environmental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Social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Governance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Basis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E79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Equal Weights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33%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No prior assumption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Expert Weights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45%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25%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30%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GRI / SASB / WEF materiality guidance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AI-Derived Weights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80%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9%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11%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262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62626"/>
                          </a:solidFill>
                        </a:rPr>
                        <a:t>Random Forest feature importance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0"/>
          <p:cNvSpPr/>
          <p:nvPr/>
        </p:nvSpPr>
        <p:spPr>
          <a:xfrm>
            <a:off x="548640" y="4434840"/>
            <a:ext cx="11109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50"/>
              <a:buFont typeface="Calibri"/>
              <a:buNone/>
            </a:pPr>
            <a:r>
              <a:rPr b="0" i="1" lang="en-US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Company scores are aggregated across FY22-23 / FY23-24 / FY24-25 with recency weighting (20% / 30% / 50%), then ranked under each scheme.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548640" y="5029200"/>
            <a:ext cx="11109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All three schemes agree almost perfectly on company order (Spearman ρ = 1.00) — the ranking is not sensitive to exactly how E/S/G are weighted, but all three do share majority weight on Environmental.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Final Sustainability Ranking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ranking_dashboard.png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11247120" cy="42611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Leaders: </a:t>
            </a: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JSW Energy, Power Grid, NHPC     </a:t>
            </a:r>
            <a:r>
              <a:rPr b="1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Average: </a:t>
            </a: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Adani Power     </a:t>
            </a:r>
            <a:r>
              <a:rPr b="1" i="0" lang="en-US" sz="14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Needs improvement: </a:t>
            </a:r>
            <a:r>
              <a:rPr b="0" i="0" lang="en-US" sz="14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Tata Power, NTPC Limited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COMPANY PROFILES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 / Social / Governance Fingerprints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eport_assets/fig_radar.png" id="155" name="Google Shape;1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417320"/>
            <a:ext cx="5577840" cy="44165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2"/>
          <p:cNvSpPr/>
          <p:nvPr/>
        </p:nvSpPr>
        <p:spPr>
          <a:xfrm>
            <a:off x="6263640" y="18288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Environmental leaders (Power Grid, NHPC, JSW) benefit from either a low-carbon business model or genuinely efficient generation.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6263640" y="32004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Governance is the most consistent weak point — every company's lowest relative pillar, most acutely for NTPC (board composition dropped sharply in FY24-25).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6263640" y="457200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Adani Power shows the most balanced E/S/G profile of the sample — no standout strength, but no severe weakness either.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548640" y="713232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Benchmarking &amp; Honest Limitations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How We Validate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608815" y="2263143"/>
            <a:ext cx="5349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Spearman rank correlation vs. real CRISIL / MSCI ESG ratings (once available).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548640" y="3154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Grid-search weight calibration: solves for the (wₑ, wₛ, wᵍ) that best matches an external benchmark ranking.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548640" y="40690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Internal cross-check: all 3 methods compared pairwise (ρ = 1.00).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6355080" y="1691640"/>
            <a:ext cx="5349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Honest Limitations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6355080" y="22402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Only 6 companies / 18 observations — correlation estimates need ρ ≈ 0.83+ just to be statistically significant.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6355080" y="3154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Verified external ratings (CRISIL/MSCI) are subscription-gated and not yet incorporated numerically.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6355080" y="40690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Font typeface="Calibri"/>
              <a:buChar char="•"/>
            </a:pPr>
            <a:r>
              <a:rPr b="0" i="0" lang="en-US" sz="17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Weight calibration on 6 points risks overfitting without cross-validation.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E7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640080" y="868680"/>
            <a:ext cx="8686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Transparent Starting Point for AI-Driven ESG Assessment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640080" y="21945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Reproducible pipeline: cleaning → feature selection → ML modeling → ranking, fully documented.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640080" y="31089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Two real methodological biases identified and corrected — not hidden.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640080" y="40233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JSW Energy, Power Grid &amp; NHPC lead; Governance is the sector-wide priority area.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640080" y="49377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8EFF7"/>
              </a:buClr>
              <a:buSzPts val="1700"/>
              <a:buFont typeface="Calibri"/>
              <a:buChar char="•"/>
            </a:pPr>
            <a:r>
              <a:rPr b="0" i="0" lang="en-US" sz="1700" u="none" cap="none" strike="noStrike">
                <a:solidFill>
                  <a:srgbClr val="E8EFF7"/>
                </a:solidFill>
                <a:latin typeface="Calibri"/>
                <a:ea typeface="Calibri"/>
                <a:cs typeface="Calibri"/>
                <a:sym typeface="Calibri"/>
              </a:rPr>
              <a:t>Next: expand company universe, add verified external ratings, cross-validate weight calibration.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C6DC"/>
              </a:buClr>
              <a:buSzPts val="1600"/>
              <a:buFont typeface="Calibri"/>
              <a:buNone/>
            </a:pPr>
            <a:r>
              <a:rPr b="0" i="1" lang="en-US" sz="1800" u="none" cap="none" strike="noStrike">
                <a:solidFill>
                  <a:srgbClr val="AFC6DC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Power Industry Sustainability Ranking Using AI/ML Techniques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libri"/>
              <a:buNone/>
            </a:pPr>
            <a:r>
              <a:rPr b="0" i="0" lang="en-US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